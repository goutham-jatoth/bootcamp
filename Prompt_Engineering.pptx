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30.png"/><Relationship Id="rId6" Type="http://schemas.openxmlformats.org/officeDocument/2006/relationships/image" Target="../media/image3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34.png"/><Relationship Id="rId6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31520" y="7315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DAY 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Prompt Engineering &amp;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Intelligent App Integration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2834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Comprehensive Workshop | Detailed Edition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3657600"/>
            <a:ext cx="7772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ACE Engineering College | AI/ML Workshop Series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Ghattkesar, Hyderabad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371600"/>
            <a:ext cx="1188720" cy="118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Workshop Objectives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43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1188720" y="1143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Understand what Prompt Engineering is and why it matters in 2026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920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188720" y="19202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Learn the core principles of effective prompt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1188720" y="2697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Master context injection techniques for grounded AI responses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474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188720" y="3474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Implement structured JSON outputs for production-ready applications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2519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1188720" y="4251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Build a real-world AI-Powered Resume Screener as your assignment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Prompt Engineering?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Prompt Engineering is the art and science of designing effective inputs (prompts) to guide Large Language Models (LLMs) toward desired, accurate, and useful outputs.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57200" y="1965960"/>
            <a:ext cx="82296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40080" y="203911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Crafting Instructions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40080" y="231343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Writing clear, precise instructions that tell the AI exactly what you want and how to behave.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2715768"/>
            <a:ext cx="82296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40080" y="278892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Management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0080" y="3063240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Providing the right background information so the model understands the domain and constraints.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3465576"/>
            <a:ext cx="82296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40080" y="353872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Output Control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3813048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Specifying the exact format, structure, tone, and length of the response you need.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4215384"/>
            <a:ext cx="8229600" cy="658368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40080" y="4288536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Iterative Refinement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40080" y="4562856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Testing, analyzing failures, and continuously improving prompts based on results.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Prompt Engineering Matters in 2026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984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1280160" y="120700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Unlocks Model Capabilities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280160" y="153619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same GPT-4o or Claude 3.5 can be average or exceptional depending on how you prompt it. Good prompts unlock reasoning, creativity, and accuracy.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5" name="Google Shape;7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258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1280160" y="216712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Reduces Hallucinations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280160" y="249631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Well-designed prompts with context, constraints, and examples dramatically reduce made-up facts and improve factual grounding.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18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/>
        </p:nvSpPr>
        <p:spPr>
          <a:xfrm>
            <a:off x="1280160" y="312724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Business &amp; Career Impact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280160" y="345643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Companies are hiring Prompt Engineers and AI Product roles at high salaries. It's one of the fastest-growing skills in tech.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4178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1280160" y="408736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Foundation for AI Apps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280160" y="441655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Every production AI application (chatbots, agents, copilots) relies on sophisticated prompt engineering under the hood.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Does a Prompt Engineer Actually Do?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984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/>
          <p:nvPr/>
        </p:nvSpPr>
        <p:spPr>
          <a:xfrm>
            <a:off x="1280160" y="120700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Design &amp; Test Prompts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280160" y="153619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Create, iterate, and A/B test prompts for different use cases — customer support, content generation, data extraction, reasoning tasks.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258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/>
          <p:nvPr/>
        </p:nvSpPr>
        <p:spPr>
          <a:xfrm>
            <a:off x="1280160" y="216712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Build Prompt Libraries &amp; Templates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280160" y="249631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Develop reusable prompt templates and systems that teams can use consistently across products.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18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1280160" y="312724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Analyze Failures &amp; Improve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280160" y="345643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the model hallucinates, gives wrong format, or misunderstands — diagnose why and fix the prompt systematically.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4178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1280160" y="408736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Integrate into Production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1280160" y="441655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Work with engineers to embed prompts into APIs, agents, RAG pipelines, and full applications with monitoring.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Day in the Life of a Prompt Engineer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594360" y="1234440"/>
            <a:ext cx="1463040" cy="594360"/>
          </a:xfrm>
          <a:prstGeom prst="roundRect">
            <a:avLst>
              <a:gd fmla="val 9231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594360" y="123444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Morning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2194560" y="132588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Review overnight model outputs, identify edge cases where prompts failed, prioritize fixes.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594360" y="2194560"/>
            <a:ext cx="1463040" cy="594360"/>
          </a:xfrm>
          <a:prstGeom prst="roundRect">
            <a:avLst>
              <a:gd fmla="val 9231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594360" y="219456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Mid-day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2194560" y="22860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Design new prompts for upcoming features. Run systematic tests with different models (GPT-4o, Claude, Gemini).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594360" y="3154680"/>
            <a:ext cx="1463040" cy="594360"/>
          </a:xfrm>
          <a:prstGeom prst="roundRect">
            <a:avLst>
              <a:gd fmla="val 9231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"/>
          <p:cNvSpPr/>
          <p:nvPr/>
        </p:nvSpPr>
        <p:spPr>
          <a:xfrm>
            <a:off x="594360" y="315468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Afternoon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2194560" y="324612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Collaborate with product &amp; engineering teams. Refine prompts based on user feedback and analytics.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594360" y="4114800"/>
            <a:ext cx="1463040" cy="594360"/>
          </a:xfrm>
          <a:prstGeom prst="roundRect">
            <a:avLst>
              <a:gd fmla="val 9231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594360" y="4114800"/>
            <a:ext cx="1463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Evening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194560" y="420624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Document prompt versions, update prompt library, experiment with new techniques (like structured outputs or agent patterns).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Skills &amp; Career Path in Prompt Engineering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 Skills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63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9"/>
          <p:cNvSpPr/>
          <p:nvPr/>
        </p:nvSpPr>
        <p:spPr>
          <a:xfrm>
            <a:off x="82296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Strong written communication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47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9"/>
          <p:cNvSpPr/>
          <p:nvPr/>
        </p:nvSpPr>
        <p:spPr>
          <a:xfrm>
            <a:off x="822960" y="18470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Logical &amp; analytical thinking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31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9"/>
          <p:cNvSpPr/>
          <p:nvPr/>
        </p:nvSpPr>
        <p:spPr>
          <a:xfrm>
            <a:off x="822960" y="223113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Understanding of LLMs &amp; tokens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6151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9"/>
          <p:cNvSpPr/>
          <p:nvPr/>
        </p:nvSpPr>
        <p:spPr>
          <a:xfrm>
            <a:off x="822960" y="261518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Basic Python / API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999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9"/>
          <p:cNvSpPr/>
          <p:nvPr/>
        </p:nvSpPr>
        <p:spPr>
          <a:xfrm>
            <a:off x="82296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Experimentation mindset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Career Opportunities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463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9"/>
          <p:cNvSpPr/>
          <p:nvPr/>
        </p:nvSpPr>
        <p:spPr>
          <a:xfrm>
            <a:off x="512064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Prompt Engineer (specialized role)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4708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5120640" y="184708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 Product Manager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231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5120640" y="223113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LLM Application Developer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6151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9"/>
          <p:cNvSpPr/>
          <p:nvPr/>
        </p:nvSpPr>
        <p:spPr>
          <a:xfrm>
            <a:off x="5120640" y="261518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 Solutions Architect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9992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5120640" y="29992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AI Consultant / Trainer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fmla="val 6154" name="adj"/>
            </a:avLst>
          </a:prstGeom>
          <a:solidFill>
            <a:srgbClr val="FEF3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💡 Pro Tip: In 2026, the best Prompt Engineers are those who combine strong prompting skills with basic coding ability. They can build full AI features, not just write prompts in isolation.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SECTION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 of Prompt Design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Crafting structured prompt layouts with system roles, contextual details, and explicit formats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Principles of Effective Prompt Design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594360" y="118872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594360" y="1188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143000" y="11430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Be Specific &amp; Explicit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143000" y="14173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Vague prompts get vague answers. Tell the model exactly what to do, what to avoid, and what format to use.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594360" y="196596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5943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143000" y="1920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Give the Model a Role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1143000" y="2194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Assign a persona (e.g., 'You are a senior software architect...'). This dramatically improves quality and tone.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594360" y="274320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59436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1143000" y="2697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Provide Context &amp; Constraints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143000" y="29718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Include relevant background, rules, examples, and limitations so the model doesn't guess.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"/>
          <p:cNvSpPr/>
          <p:nvPr/>
        </p:nvSpPr>
        <p:spPr>
          <a:xfrm>
            <a:off x="594360" y="352044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594360" y="3520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143000" y="3474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Specify Output Structure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43000" y="3749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Always define the desired format — JSON, bullet points, table, step-by-step, etc.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594360" y="429768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594360" y="42976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143000" y="4251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Iterate &amp; Test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143000" y="45262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Prompt engineering is iterative. Test with different inputs, analyze failures, and refine continuously.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Roles &amp; Personas — The Foundation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Assigning a clear role is one of the highest-leverage things you can do in a prompt.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Weak (No Role)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57200" y="1828800"/>
            <a:ext cx="3931920" cy="1280160"/>
          </a:xfrm>
          <a:prstGeom prst="roundRect">
            <a:avLst>
              <a:gd fmla="val 5714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94360" y="196596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"Explain quantum computing."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Strong (With Role)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754880" y="1828800"/>
            <a:ext cx="3931920" cy="2560320"/>
          </a:xfrm>
          <a:prstGeom prst="roundRect">
            <a:avLst>
              <a:gd fmla="val 2857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4892040" y="196596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You are Dr. Elena Vargas, a quantum physicist with 15 years of experience explaining complex topics to undergraduate students.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Explain quantum computing using simple analogies, avoid heavy math, and focus on why it matters for the next decade.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Use a friendly but authoritative tone.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fmla="val 10909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594360" y="461772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💡 Tip: The more specific the persona (expertise level, audience, tone), the better the output quality.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Providing Context &amp; Background Information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Domain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640080" y="14813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Industry, company, or field-specific knowledge (e.g., 'This is for a fintech startup in India...')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Task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40080" y="23957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has already happened or what the goal is (e.g., 'Previous emails were about pricing complaints...')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640080" y="33101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Who the end user is and what they care about (e.g., 'The user is a non-technical founder...')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Constraint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Rules, limitations, and requirements (e.g., 'Must be under 200 words, use simple language, cite sources')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Specifying Output Format &amp; Constraints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Always tell the model exactly how you want the answer structured. This is critical for downstream use.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457200" y="1508760"/>
            <a:ext cx="822960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594360" y="1618488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594360" y="16184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Bullet Points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2560320" y="16459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List exactly 5 key points with one sentence each.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457200" y="2194560"/>
            <a:ext cx="822960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594360" y="2304288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594360" y="23042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2560320" y="23317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Return a markdown table with columns: Feature | Benefit | Priority.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457200" y="2880360"/>
            <a:ext cx="822960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594360" y="2990088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594360" y="29900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Step-by-Step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2560320" y="30175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Explain your reasoning in numbered steps before giving the final answer.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457200" y="3566160"/>
            <a:ext cx="822960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594360" y="3675888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594360" y="36758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JSON Object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2560320" y="37033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Return ONLY valid JSON with keys: score, summary, risks, recommendation.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457200" y="4251960"/>
            <a:ext cx="8229600" cy="59436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594360" y="4361688"/>
            <a:ext cx="1828800" cy="365760"/>
          </a:xfrm>
          <a:prstGeom prst="roundRect">
            <a:avLst>
              <a:gd fmla="val 12500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594360" y="4361688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Length &amp; 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2560320" y="43891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Keep response under 150 words. Use professional but friendly tone.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Foundations: Good vs Bad Prompt Examples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Bad Prompt (Vague + No Structure)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fmla="val 8000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594360" y="1508760"/>
            <a:ext cx="7955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"Write something about climate change for students."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Good Prompt (Role + Context + Format)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457200" y="2743200"/>
            <a:ext cx="8229600" cy="2194560"/>
          </a:xfrm>
          <a:prstGeom prst="roundRect">
            <a:avLst>
              <a:gd fmla="val 3333" name="adj"/>
            </a:avLst>
          </a:prstGeom>
          <a:solidFill>
            <a:srgbClr val="F0F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594360" y="2880360"/>
            <a:ext cx="79552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You are an experienced high school science teacher known for making complex topics engaging.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Write a 300-word explanation of climate change for 10th-grade students in India.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Use simple language, include one real-world example relevant to Indian agriculture or monsoon, and end with 3 actionable things students can 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Format: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- Opening hook (1 paragraph)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- Explanation (2-3 paragraphs)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- Indian 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- Actionable steps (bullet list)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SECTION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 Injection Frameworks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Appending dynamic database strings into prompts for accurate, grounded responses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is Context Injection?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Context Injection is the technique of dynamically inserting relevant, real-time information into a prompt so the LLM can generate accurate answers based on actual data rather than relying only on its training data.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7"/>
          <p:cNvSpPr/>
          <p:nvPr/>
        </p:nvSpPr>
        <p:spPr>
          <a:xfrm>
            <a:off x="640080" y="190195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Solves Knowledge Cutoff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7"/>
          <p:cNvSpPr/>
          <p:nvPr/>
        </p:nvSpPr>
        <p:spPr>
          <a:xfrm>
            <a:off x="640080" y="217627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LLMs have a training data cutoff. Context injection brings in current information (prices, news, user data, documents).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"/>
          <p:cNvSpPr/>
          <p:nvPr/>
        </p:nvSpPr>
        <p:spPr>
          <a:xfrm>
            <a:off x="640080" y="267919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Reduces Hallucinations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640080" y="295351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the model has the actual data in the prompt, it's much less likely to make things 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7"/>
          <p:cNvSpPr/>
          <p:nvPr/>
        </p:nvSpPr>
        <p:spPr>
          <a:xfrm>
            <a:off x="640080" y="345643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Enables Personalization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640080" y="373075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You can inject user-specific data (profile, history, preferences) for tailored responses.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640080" y="4233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Foundation of RAG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640080" y="450799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This is the core idea behind Retrieval-Augmented Generation — retrieve relevant chunks and inject them into the prompt.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Static vs Dynamic Context Injection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Static Context (Fixed)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57200" y="1417320"/>
            <a:ext cx="393192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"/>
          <p:cNvSpPr/>
          <p:nvPr/>
        </p:nvSpPr>
        <p:spPr>
          <a:xfrm>
            <a:off x="594360" y="155448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System prompt that includes fixed information: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"You are a customer support agent for ACE Engineering College. Our courses include B.Tech in CSE, ECE, MECH... Our fees are... Our placement rate is 92%..."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This never changes during the conversation.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Dynamic Context (Injected)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4754880" y="1417320"/>
            <a:ext cx="3931920" cy="2011680"/>
          </a:xfrm>
          <a:prstGeom prst="roundRect">
            <a:avLst>
              <a:gd fmla="val 3636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4892040" y="1554480"/>
            <a:ext cx="3657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Prompt template + runtime data: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"Answer the student's question using ONLY the following information: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[INSERT RETRIEVED DATA HERE]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Question: {user_question}"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The [INSERT] part changes based on what the student asks (fees, placements, faculty, etc.).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457200" y="3611880"/>
            <a:ext cx="8229600" cy="1325880"/>
          </a:xfrm>
          <a:prstGeom prst="roundRect">
            <a:avLst>
              <a:gd fmla="val 5517" name="adj"/>
            </a:avLst>
          </a:prstGeom>
          <a:solidFill>
            <a:srgbClr val="EE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594360" y="3749040"/>
            <a:ext cx="7955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Real-World Example: A college chatbot. Static context = college name, courses offered. Dynamic context = 'What are the cutoffs for CSE this year?' → System retrieves latest cutoff data from database and injects it into the prompt before sending to the LLM.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RAG: Retrieval-Augmented Generation (Practical Framework)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594360" y="1252728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594360" y="12527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1188720" y="116128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User Query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1188720" y="14630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Student asks: 'What is the highest package offered last year in CSE?'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594360" y="2212848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594360" y="2212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1188720" y="21214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1188720" y="24231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System searches vector database or structured data for relevant chunks (placement reports, highest offers, company names).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457200" y="29718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594360" y="3172968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594360" y="3172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1188720" y="3081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1188720" y="33832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Top relevant chunks are inserted into the prompt: 'According to 2025 placement data: Highest CSE package was ₹42 LPA by Google...'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9"/>
          <p:cNvSpPr/>
          <p:nvPr/>
        </p:nvSpPr>
        <p:spPr>
          <a:xfrm>
            <a:off x="594360" y="4133088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594360" y="4133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1188720" y="4041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1188720" y="43434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LLM generates accurate answer grounded in the injected placement data, not hallucinated numbers.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Context Injection Example: AI Resume Screener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we use context injection in your assignment: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457200" y="1463040"/>
            <a:ext cx="8229600" cy="347472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94360" y="1600200"/>
            <a:ext cx="79552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System Prompt (with injected context):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You are an expert technical recruiter for a product-based company.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JOB DESCRIPTION (injected dynamically):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{job_description}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RESUME TO ANALYZE (injected dynamically):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{resume_text}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1. Score the candidate's fit for this specific job (1-10)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2. List 3 key strengths that match the JD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3. List 2 potential gaps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4. Give a clear recommendation: Strong Fit / Moderate Fit / Not a Fit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5. Return ONLY valid JSON with keys: score, strengths, gaps, recommendation,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rPr>
              <a:t>Analyze strictly based on the job description and resume provided above.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SECTION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Structural JSON Output Enforcement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Making AI return machine-readable, structured data instead of free text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Why Structured JSON Output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5" name="Google Shape;3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984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/>
          <p:nvPr/>
        </p:nvSpPr>
        <p:spPr>
          <a:xfrm>
            <a:off x="1280160" y="120700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Reliable Parsing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/>
          <p:nvPr/>
        </p:nvSpPr>
        <p:spPr>
          <a:xfrm>
            <a:off x="1280160" y="153619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Your application can directly read .score, .recommendation without fragile text parsing or regex.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2"/>
          <p:cNvSpPr/>
          <p:nvPr/>
        </p:nvSpPr>
        <p:spPr>
          <a:xfrm>
            <a:off x="457200" y="20574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2585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2"/>
          <p:cNvSpPr/>
          <p:nvPr/>
        </p:nvSpPr>
        <p:spPr>
          <a:xfrm>
            <a:off x="1280160" y="216712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Database Ready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280160" y="249631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Store AI outputs directly in PostgreSQL, MongoDB, or Google Sheets with consistent 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457200" y="301752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186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2"/>
          <p:cNvSpPr/>
          <p:nvPr/>
        </p:nvSpPr>
        <p:spPr>
          <a:xfrm>
            <a:off x="1280160" y="312724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Reduced Errors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1280160" y="345643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Constrained output reduces hallucination and makes validation possible (Pydantic, Zod, etc.).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457200" y="397764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7" name="Google Shape;3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4178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/>
          <p:nvPr/>
        </p:nvSpPr>
        <p:spPr>
          <a:xfrm>
            <a:off x="1280160" y="4087368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API Integration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1280160" y="441655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Easy to chain multiple AI calls or feed output into other systems (email, CRM, analytics).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to Force JSON Output from LLMs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3"/>
          <p:cNvSpPr/>
          <p:nvPr/>
        </p:nvSpPr>
        <p:spPr>
          <a:xfrm>
            <a:off x="457200" y="105156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640080" y="11430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 1: Explicit Instruction (Works on most models)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3"/>
          <p:cNvSpPr/>
          <p:nvPr/>
        </p:nvSpPr>
        <p:spPr>
          <a:xfrm>
            <a:off x="640080" y="143560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Add at the end: 'Respond ONLY with valid JSON. Do not include any other text or explanation.'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3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 2: Provide JSON Schema Example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640080" y="239572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Show the exact structure you want: { "score": 8, "strengths": ["..."], "recommendation": "Strong Fit"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457200" y="29718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 3: Use Model's Native JSON Mode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3"/>
          <p:cNvSpPr/>
          <p:nvPr/>
        </p:nvSpPr>
        <p:spPr>
          <a:xfrm>
            <a:off x="640080" y="335584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OpenAI, Anthropic, Gemini have built-in JSON mode / structured outputs. Use response_format: { type: "json_object"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3"/>
          <p:cNvSpPr/>
          <p:nvPr/>
        </p:nvSpPr>
        <p:spPr>
          <a:xfrm>
            <a:off x="457200" y="393192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Method 4: Validation Layer (Production)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3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After getting output, validate with Pydantic (Python) or Zod (JS). If invalid, retry or fallback.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Designing Good JSON Schemas for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Good schema design makes outputs more reliable and easier to use downstream.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457200" y="1463040"/>
            <a:ext cx="822960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594360" y="153619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"output": "Strong Fit with score 8"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594360" y="1847088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"recommendation": "Strong Fit", "score": 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457200" y="2331720"/>
            <a:ext cx="822960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594360" y="240487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Free text fields that can be long paragraphs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594360" y="2715768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Break into specific fields: strengths[], gaps[],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457200" y="3200400"/>
            <a:ext cx="822960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594360" y="327355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Ambiguous field names like "result" or "data"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4"/>
          <p:cNvSpPr/>
          <p:nvPr/>
        </p:nvSpPr>
        <p:spPr>
          <a:xfrm>
            <a:off x="594360" y="3584448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Clear names: match_score, key_strengths, risk_factors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457200" y="4069080"/>
            <a:ext cx="822960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594360" y="4142232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❌ No constraints on values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/>
          <p:nvPr/>
        </p:nvSpPr>
        <p:spPr>
          <a:xfrm>
            <a:off x="594360" y="4453128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✅ Use enums where possible: "recommendation": "Strong Fit" | "Moderate Fit" | "Not a Fit"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 JSON Output Example (Resume Screener)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457200" y="1051560"/>
            <a:ext cx="8229600" cy="3931920"/>
          </a:xfrm>
          <a:prstGeom prst="roundRect">
            <a:avLst>
              <a:gd fmla="val 186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594360" y="1188720"/>
            <a:ext cx="79552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"match_score": 8,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"recommendation": "Strong Fit",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"strengths":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"5+ years Python &amp; FastAPI experience matches JD requirement",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"Previous role at fintech startup shows relevant domain exposure",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"Strong system design projects in GitHub portfolio"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"gaps": [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"No direct experience with Kubernetes (nice-to-have in JD)",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"Limited exposure to high-scale distributed systems"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],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"summary": "Candidate has strong backend fundamentals and relevant experience. Recommended for technical interview round.",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"confidence": "high"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📝 Assignment: AI-Powered Resume Screener &amp; Rating Engine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457200" y="105156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640080" y="112471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 Requirements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640080" y="139903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Build a system that takes Job Description + Resume(s) → Returns structured JSON analysis using all 3 techniques from today.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457200" y="182880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640080" y="190195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Prompt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6"/>
          <p:cNvSpPr/>
          <p:nvPr/>
        </p:nvSpPr>
        <p:spPr>
          <a:xfrm>
            <a:off x="640080" y="217627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Design a high-quality system prompt with clear role, evaluation criteria, and strict JSON output instruction.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457200" y="260604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640080" y="267919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Context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640080" y="295351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Dynamically inject the job description and resume content into the prompt at runtime.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640080" y="345643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Structured Output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/>
          <p:nvPr/>
        </p:nvSpPr>
        <p:spPr>
          <a:xfrm>
            <a:off x="640080" y="373075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Enforce and validate JSON with fields: match_score, strengths, gaps, recommendation, summary.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6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640080" y="42336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Bonus Challenges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6"/>
          <p:cNvSpPr/>
          <p:nvPr/>
        </p:nvSpPr>
        <p:spPr>
          <a:xfrm>
            <a:off x="640080" y="450799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Batch processing • Simple UI (Streamlit/Gradio) • Export to CSV/Excel • Multi-model comparison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Takeaways from Day 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457200" y="100584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7" name="Google Shape;46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07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7"/>
          <p:cNvSpPr/>
          <p:nvPr/>
        </p:nvSpPr>
        <p:spPr>
          <a:xfrm>
            <a:off x="1280160" y="123444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Prompt Engineering = Role + Context + Explicit Format + Iteration. Master these and you control the model.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457200" y="196596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0" name="Google Shape;4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167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7"/>
          <p:cNvSpPr/>
          <p:nvPr/>
        </p:nvSpPr>
        <p:spPr>
          <a:xfrm>
            <a:off x="1280160" y="219456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Context Injection turns generic LLMs into accurate, up-to-date domain experts. This is the heart of RAG systems.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457200" y="292608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3" name="Google Shape;47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12724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27"/>
          <p:cNvSpPr/>
          <p:nvPr/>
        </p:nvSpPr>
        <p:spPr>
          <a:xfrm>
            <a:off x="1280160" y="315468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JSON Output Enforcement makes AI production-ready. Always design schemas with clear fields and validation in mind.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7"/>
          <p:cNvSpPr/>
          <p:nvPr/>
        </p:nvSpPr>
        <p:spPr>
          <a:xfrm>
            <a:off x="457200" y="3886200"/>
            <a:ext cx="8229600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40873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7"/>
          <p:cNvSpPr/>
          <p:nvPr/>
        </p:nvSpPr>
        <p:spPr>
          <a:xfrm>
            <a:off x="1280160" y="411480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Combine all three techniques to build powerful applications like the Resume Screener — this is how real AI products are built.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Next Steps &amp; Resources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8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5" name="Google Shape;4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430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28"/>
          <p:cNvSpPr/>
          <p:nvPr/>
        </p:nvSpPr>
        <p:spPr>
          <a:xfrm>
            <a:off x="1097280" y="114300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Start building your Resume Screener assignment today — apply everything you learned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8" name="Google Shape;4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9202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28"/>
          <p:cNvSpPr/>
          <p:nvPr/>
        </p:nvSpPr>
        <p:spPr>
          <a:xfrm>
            <a:off x="1097280" y="192024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Experiment with different models (GPT-4o, Claude 3.5, Gemini) and compare JSON quality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8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697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8"/>
          <p:cNvSpPr/>
          <p:nvPr/>
        </p:nvSpPr>
        <p:spPr>
          <a:xfrm>
            <a:off x="1097280" y="269748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Read: 'Prompt Engineering Guide' by DAIR.AI and OpenAI's Structured Outputs documentation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4" name="Google Shape;49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474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8"/>
          <p:cNvSpPr/>
          <p:nvPr/>
        </p:nvSpPr>
        <p:spPr>
          <a:xfrm>
            <a:off x="1097280" y="347472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Practice: Take any existing prompt you use and improve it using the principles from today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127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2519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28"/>
          <p:cNvSpPr/>
          <p:nvPr/>
        </p:nvSpPr>
        <p:spPr>
          <a:xfrm>
            <a:off x="1097280" y="4251960"/>
            <a:ext cx="7406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Share: Post your best prompt improvements in the workshop group for feedback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9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Start building your AI-Powered Resume Screener now.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Apply prompt engineering, context injection, and structured outputs.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9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Team ACET | ACE Engineering College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Questions? Let's discuss in the session!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